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B7FE78-16FC-C188-1D2C-C2A9292D66FE}" v="1021" dt="2026-01-18T16:43:55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1030AA-63CD-4B0C-BDDF-707B6013F73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C874ACF-7F5F-4E28-99E7-7EDDF5ED8E4B}">
      <dgm:prSet/>
      <dgm:spPr/>
      <dgm:t>
        <a:bodyPr/>
        <a:lstStyle/>
        <a:p>
          <a:r>
            <a:rPr lang="en-US"/>
            <a:t>Faster delivery</a:t>
          </a:r>
        </a:p>
      </dgm:t>
    </dgm:pt>
    <dgm:pt modelId="{D6257972-86DD-4506-AEE5-C7C9386AF092}" type="parTrans" cxnId="{4079F3C2-599D-42E6-B015-EE601D064021}">
      <dgm:prSet/>
      <dgm:spPr/>
      <dgm:t>
        <a:bodyPr/>
        <a:lstStyle/>
        <a:p>
          <a:endParaRPr lang="en-US"/>
        </a:p>
      </dgm:t>
    </dgm:pt>
    <dgm:pt modelId="{BD3239F0-DB0F-4C08-A768-5CAF53AE19B6}" type="sibTrans" cxnId="{4079F3C2-599D-42E6-B015-EE601D064021}">
      <dgm:prSet/>
      <dgm:spPr/>
      <dgm:t>
        <a:bodyPr/>
        <a:lstStyle/>
        <a:p>
          <a:endParaRPr lang="en-US"/>
        </a:p>
      </dgm:t>
    </dgm:pt>
    <dgm:pt modelId="{75721599-9EB5-493C-920F-E34E412D63EA}">
      <dgm:prSet/>
      <dgm:spPr/>
      <dgm:t>
        <a:bodyPr/>
        <a:lstStyle/>
        <a:p>
          <a:r>
            <a:rPr lang="en-US"/>
            <a:t>Better alignment with business goals</a:t>
          </a:r>
        </a:p>
      </dgm:t>
    </dgm:pt>
    <dgm:pt modelId="{6A3DD096-FF51-46DA-82D0-BF289A6E241A}" type="parTrans" cxnId="{751CB357-2364-46F4-8CD3-1480C379982F}">
      <dgm:prSet/>
      <dgm:spPr/>
      <dgm:t>
        <a:bodyPr/>
        <a:lstStyle/>
        <a:p>
          <a:endParaRPr lang="en-US"/>
        </a:p>
      </dgm:t>
    </dgm:pt>
    <dgm:pt modelId="{0879A7D0-A2E1-49DC-B5A1-8EAF7DEC18B6}" type="sibTrans" cxnId="{751CB357-2364-46F4-8CD3-1480C379982F}">
      <dgm:prSet/>
      <dgm:spPr/>
      <dgm:t>
        <a:bodyPr/>
        <a:lstStyle/>
        <a:p>
          <a:endParaRPr lang="en-US"/>
        </a:p>
      </dgm:t>
    </dgm:pt>
    <dgm:pt modelId="{2DEAFF90-8C84-4646-BBCC-1D9E6C62C191}">
      <dgm:prSet/>
      <dgm:spPr/>
      <dgm:t>
        <a:bodyPr/>
        <a:lstStyle/>
        <a:p>
          <a:r>
            <a:rPr lang="en-US"/>
            <a:t>Higher quality and reliability</a:t>
          </a:r>
        </a:p>
      </dgm:t>
    </dgm:pt>
    <dgm:pt modelId="{2A34ABBD-49C6-4846-BEA4-5D7BFEB24D20}" type="parTrans" cxnId="{92539CC4-2A73-42D6-84D8-FBF4BE2FDEF6}">
      <dgm:prSet/>
      <dgm:spPr/>
      <dgm:t>
        <a:bodyPr/>
        <a:lstStyle/>
        <a:p>
          <a:endParaRPr lang="en-US"/>
        </a:p>
      </dgm:t>
    </dgm:pt>
    <dgm:pt modelId="{7FF7359B-0731-41C1-AA17-4F9DA5F7D2E4}" type="sibTrans" cxnId="{92539CC4-2A73-42D6-84D8-FBF4BE2FDEF6}">
      <dgm:prSet/>
      <dgm:spPr/>
      <dgm:t>
        <a:bodyPr/>
        <a:lstStyle/>
        <a:p>
          <a:endParaRPr lang="en-US"/>
        </a:p>
      </dgm:t>
    </dgm:pt>
    <dgm:pt modelId="{84AD530C-E028-4220-B182-2F48625266AB}">
      <dgm:prSet/>
      <dgm:spPr/>
      <dgm:t>
        <a:bodyPr/>
        <a:lstStyle/>
        <a:p>
          <a:r>
            <a:rPr lang="en-US"/>
            <a:t>Increased customer satisfaction</a:t>
          </a:r>
        </a:p>
      </dgm:t>
    </dgm:pt>
    <dgm:pt modelId="{B155799C-7375-4282-B84D-2C7C8D14D304}" type="parTrans" cxnId="{EDA0FB02-70F8-490E-BBAB-C583C79FB290}">
      <dgm:prSet/>
      <dgm:spPr/>
      <dgm:t>
        <a:bodyPr/>
        <a:lstStyle/>
        <a:p>
          <a:endParaRPr lang="en-US"/>
        </a:p>
      </dgm:t>
    </dgm:pt>
    <dgm:pt modelId="{55FAEC4C-D2F0-4742-AC3C-AE2AF4E247BC}" type="sibTrans" cxnId="{EDA0FB02-70F8-490E-BBAB-C583C79FB290}">
      <dgm:prSet/>
      <dgm:spPr/>
      <dgm:t>
        <a:bodyPr/>
        <a:lstStyle/>
        <a:p>
          <a:endParaRPr lang="en-US"/>
        </a:p>
      </dgm:t>
    </dgm:pt>
    <dgm:pt modelId="{F20B8BD9-E476-4008-8D13-81F09F2D2BF4}" type="pres">
      <dgm:prSet presAssocID="{AF1030AA-63CD-4B0C-BDDF-707B6013F736}" presName="root" presStyleCnt="0">
        <dgm:presLayoutVars>
          <dgm:dir/>
          <dgm:resizeHandles val="exact"/>
        </dgm:presLayoutVars>
      </dgm:prSet>
      <dgm:spPr/>
    </dgm:pt>
    <dgm:pt modelId="{D7EA1DC2-E5CE-4915-B354-07A636C21263}" type="pres">
      <dgm:prSet presAssocID="{3C874ACF-7F5F-4E28-99E7-7EDDF5ED8E4B}" presName="compNode" presStyleCnt="0"/>
      <dgm:spPr/>
    </dgm:pt>
    <dgm:pt modelId="{6E2478A5-0A5B-47BC-98D7-828BF47103A2}" type="pres">
      <dgm:prSet presAssocID="{3C874ACF-7F5F-4E28-99E7-7EDDF5ED8E4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1809047E-F949-42B2-B8A4-0B6C13D356F7}" type="pres">
      <dgm:prSet presAssocID="{3C874ACF-7F5F-4E28-99E7-7EDDF5ED8E4B}" presName="spaceRect" presStyleCnt="0"/>
      <dgm:spPr/>
    </dgm:pt>
    <dgm:pt modelId="{5FA955BC-8FC0-454D-B0C5-B3CEB25E421A}" type="pres">
      <dgm:prSet presAssocID="{3C874ACF-7F5F-4E28-99E7-7EDDF5ED8E4B}" presName="textRect" presStyleLbl="revTx" presStyleIdx="0" presStyleCnt="4">
        <dgm:presLayoutVars>
          <dgm:chMax val="1"/>
          <dgm:chPref val="1"/>
        </dgm:presLayoutVars>
      </dgm:prSet>
      <dgm:spPr/>
    </dgm:pt>
    <dgm:pt modelId="{E2A41BA2-2FAB-43D4-BC7F-B7F9FB3A2EE4}" type="pres">
      <dgm:prSet presAssocID="{BD3239F0-DB0F-4C08-A768-5CAF53AE19B6}" presName="sibTrans" presStyleCnt="0"/>
      <dgm:spPr/>
    </dgm:pt>
    <dgm:pt modelId="{6D9EB326-2A6D-4877-A950-BECFCC7DAA98}" type="pres">
      <dgm:prSet presAssocID="{75721599-9EB5-493C-920F-E34E412D63EA}" presName="compNode" presStyleCnt="0"/>
      <dgm:spPr/>
    </dgm:pt>
    <dgm:pt modelId="{F1DEF3A3-FB67-4B6D-AD66-F69E9476C26A}" type="pres">
      <dgm:prSet presAssocID="{75721599-9EB5-493C-920F-E34E412D63E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3A9B569-7203-4C25-AF0C-114A868BE571}" type="pres">
      <dgm:prSet presAssocID="{75721599-9EB5-493C-920F-E34E412D63EA}" presName="spaceRect" presStyleCnt="0"/>
      <dgm:spPr/>
    </dgm:pt>
    <dgm:pt modelId="{44CC7F79-F8D6-4478-9403-825A044532F7}" type="pres">
      <dgm:prSet presAssocID="{75721599-9EB5-493C-920F-E34E412D63EA}" presName="textRect" presStyleLbl="revTx" presStyleIdx="1" presStyleCnt="4">
        <dgm:presLayoutVars>
          <dgm:chMax val="1"/>
          <dgm:chPref val="1"/>
        </dgm:presLayoutVars>
      </dgm:prSet>
      <dgm:spPr/>
    </dgm:pt>
    <dgm:pt modelId="{4237D186-270D-4854-9120-211109D32963}" type="pres">
      <dgm:prSet presAssocID="{0879A7D0-A2E1-49DC-B5A1-8EAF7DEC18B6}" presName="sibTrans" presStyleCnt="0"/>
      <dgm:spPr/>
    </dgm:pt>
    <dgm:pt modelId="{80BBDEF1-C5F4-47A3-82D8-B114B0B21B47}" type="pres">
      <dgm:prSet presAssocID="{2DEAFF90-8C84-4646-BBCC-1D9E6C62C191}" presName="compNode" presStyleCnt="0"/>
      <dgm:spPr/>
    </dgm:pt>
    <dgm:pt modelId="{4B15633F-72FA-42C8-990F-BFB62C29C7C0}" type="pres">
      <dgm:prSet presAssocID="{2DEAFF90-8C84-4646-BBCC-1D9E6C62C19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DBC0548C-C88D-4647-A319-E28708906614}" type="pres">
      <dgm:prSet presAssocID="{2DEAFF90-8C84-4646-BBCC-1D9E6C62C191}" presName="spaceRect" presStyleCnt="0"/>
      <dgm:spPr/>
    </dgm:pt>
    <dgm:pt modelId="{4B939E9E-91F4-418E-940A-691869A082D8}" type="pres">
      <dgm:prSet presAssocID="{2DEAFF90-8C84-4646-BBCC-1D9E6C62C191}" presName="textRect" presStyleLbl="revTx" presStyleIdx="2" presStyleCnt="4">
        <dgm:presLayoutVars>
          <dgm:chMax val="1"/>
          <dgm:chPref val="1"/>
        </dgm:presLayoutVars>
      </dgm:prSet>
      <dgm:spPr/>
    </dgm:pt>
    <dgm:pt modelId="{B6B03CAD-6728-4FA7-A46D-CCA9201CF871}" type="pres">
      <dgm:prSet presAssocID="{7FF7359B-0731-41C1-AA17-4F9DA5F7D2E4}" presName="sibTrans" presStyleCnt="0"/>
      <dgm:spPr/>
    </dgm:pt>
    <dgm:pt modelId="{F4910ACD-F976-49AC-A839-F48BBA7F0FEA}" type="pres">
      <dgm:prSet presAssocID="{84AD530C-E028-4220-B182-2F48625266AB}" presName="compNode" presStyleCnt="0"/>
      <dgm:spPr/>
    </dgm:pt>
    <dgm:pt modelId="{7CBCE240-781C-4FF1-B411-01A101E441C9}" type="pres">
      <dgm:prSet presAssocID="{84AD530C-E028-4220-B182-2F48625266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92CA1F1-E5BF-47CD-83B8-FA08B8D37D24}" type="pres">
      <dgm:prSet presAssocID="{84AD530C-E028-4220-B182-2F48625266AB}" presName="spaceRect" presStyleCnt="0"/>
      <dgm:spPr/>
    </dgm:pt>
    <dgm:pt modelId="{68F4AFB9-AD22-472C-B3FC-337BDD24C29D}" type="pres">
      <dgm:prSet presAssocID="{84AD530C-E028-4220-B182-2F48625266A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DA0FB02-70F8-490E-BBAB-C583C79FB290}" srcId="{AF1030AA-63CD-4B0C-BDDF-707B6013F736}" destId="{84AD530C-E028-4220-B182-2F48625266AB}" srcOrd="3" destOrd="0" parTransId="{B155799C-7375-4282-B84D-2C7C8D14D304}" sibTransId="{55FAEC4C-D2F0-4742-AC3C-AE2AF4E247BC}"/>
    <dgm:cxn modelId="{AF51531D-C834-4D65-B78F-339E918520A0}" type="presOf" srcId="{3C874ACF-7F5F-4E28-99E7-7EDDF5ED8E4B}" destId="{5FA955BC-8FC0-454D-B0C5-B3CEB25E421A}" srcOrd="0" destOrd="0" presId="urn:microsoft.com/office/officeart/2018/2/layout/IconLabelList"/>
    <dgm:cxn modelId="{B017B236-D996-4203-85F9-F29A0C2F3F00}" type="presOf" srcId="{75721599-9EB5-493C-920F-E34E412D63EA}" destId="{44CC7F79-F8D6-4478-9403-825A044532F7}" srcOrd="0" destOrd="0" presId="urn:microsoft.com/office/officeart/2018/2/layout/IconLabelList"/>
    <dgm:cxn modelId="{751CB357-2364-46F4-8CD3-1480C379982F}" srcId="{AF1030AA-63CD-4B0C-BDDF-707B6013F736}" destId="{75721599-9EB5-493C-920F-E34E412D63EA}" srcOrd="1" destOrd="0" parTransId="{6A3DD096-FF51-46DA-82D0-BF289A6E241A}" sibTransId="{0879A7D0-A2E1-49DC-B5A1-8EAF7DEC18B6}"/>
    <dgm:cxn modelId="{6F3AC37D-A042-4808-9711-B24BA275B980}" type="presOf" srcId="{2DEAFF90-8C84-4646-BBCC-1D9E6C62C191}" destId="{4B939E9E-91F4-418E-940A-691869A082D8}" srcOrd="0" destOrd="0" presId="urn:microsoft.com/office/officeart/2018/2/layout/IconLabelList"/>
    <dgm:cxn modelId="{70C82682-9495-4E8A-B84C-865700B1A327}" type="presOf" srcId="{AF1030AA-63CD-4B0C-BDDF-707B6013F736}" destId="{F20B8BD9-E476-4008-8D13-81F09F2D2BF4}" srcOrd="0" destOrd="0" presId="urn:microsoft.com/office/officeart/2018/2/layout/IconLabelList"/>
    <dgm:cxn modelId="{49D676A3-6515-424E-B172-62E8193ABD54}" type="presOf" srcId="{84AD530C-E028-4220-B182-2F48625266AB}" destId="{68F4AFB9-AD22-472C-B3FC-337BDD24C29D}" srcOrd="0" destOrd="0" presId="urn:microsoft.com/office/officeart/2018/2/layout/IconLabelList"/>
    <dgm:cxn modelId="{4079F3C2-599D-42E6-B015-EE601D064021}" srcId="{AF1030AA-63CD-4B0C-BDDF-707B6013F736}" destId="{3C874ACF-7F5F-4E28-99E7-7EDDF5ED8E4B}" srcOrd="0" destOrd="0" parTransId="{D6257972-86DD-4506-AEE5-C7C9386AF092}" sibTransId="{BD3239F0-DB0F-4C08-A768-5CAF53AE19B6}"/>
    <dgm:cxn modelId="{92539CC4-2A73-42D6-84D8-FBF4BE2FDEF6}" srcId="{AF1030AA-63CD-4B0C-BDDF-707B6013F736}" destId="{2DEAFF90-8C84-4646-BBCC-1D9E6C62C191}" srcOrd="2" destOrd="0" parTransId="{2A34ABBD-49C6-4846-BEA4-5D7BFEB24D20}" sibTransId="{7FF7359B-0731-41C1-AA17-4F9DA5F7D2E4}"/>
    <dgm:cxn modelId="{0E6E6F19-A368-497A-BBEB-9E9E04F6B65D}" type="presParOf" srcId="{F20B8BD9-E476-4008-8D13-81F09F2D2BF4}" destId="{D7EA1DC2-E5CE-4915-B354-07A636C21263}" srcOrd="0" destOrd="0" presId="urn:microsoft.com/office/officeart/2018/2/layout/IconLabelList"/>
    <dgm:cxn modelId="{6538DEB3-3C8E-409D-ABA1-1DE250828F27}" type="presParOf" srcId="{D7EA1DC2-E5CE-4915-B354-07A636C21263}" destId="{6E2478A5-0A5B-47BC-98D7-828BF47103A2}" srcOrd="0" destOrd="0" presId="urn:microsoft.com/office/officeart/2018/2/layout/IconLabelList"/>
    <dgm:cxn modelId="{66E42482-803D-49CA-A2A4-18599B47BA41}" type="presParOf" srcId="{D7EA1DC2-E5CE-4915-B354-07A636C21263}" destId="{1809047E-F949-42B2-B8A4-0B6C13D356F7}" srcOrd="1" destOrd="0" presId="urn:microsoft.com/office/officeart/2018/2/layout/IconLabelList"/>
    <dgm:cxn modelId="{EF8AFC24-155E-4023-B162-87CC2BED9CAE}" type="presParOf" srcId="{D7EA1DC2-E5CE-4915-B354-07A636C21263}" destId="{5FA955BC-8FC0-454D-B0C5-B3CEB25E421A}" srcOrd="2" destOrd="0" presId="urn:microsoft.com/office/officeart/2018/2/layout/IconLabelList"/>
    <dgm:cxn modelId="{A08CA18E-22C3-4689-950B-122C225A56FD}" type="presParOf" srcId="{F20B8BD9-E476-4008-8D13-81F09F2D2BF4}" destId="{E2A41BA2-2FAB-43D4-BC7F-B7F9FB3A2EE4}" srcOrd="1" destOrd="0" presId="urn:microsoft.com/office/officeart/2018/2/layout/IconLabelList"/>
    <dgm:cxn modelId="{3F01E6DB-5049-441A-9745-8D905F96C5E4}" type="presParOf" srcId="{F20B8BD9-E476-4008-8D13-81F09F2D2BF4}" destId="{6D9EB326-2A6D-4877-A950-BECFCC7DAA98}" srcOrd="2" destOrd="0" presId="urn:microsoft.com/office/officeart/2018/2/layout/IconLabelList"/>
    <dgm:cxn modelId="{A70F5AB6-F51C-4461-A487-F00E6A29423E}" type="presParOf" srcId="{6D9EB326-2A6D-4877-A950-BECFCC7DAA98}" destId="{F1DEF3A3-FB67-4B6D-AD66-F69E9476C26A}" srcOrd="0" destOrd="0" presId="urn:microsoft.com/office/officeart/2018/2/layout/IconLabelList"/>
    <dgm:cxn modelId="{8C126E2A-6AE7-42D0-903D-D78D1349B8AB}" type="presParOf" srcId="{6D9EB326-2A6D-4877-A950-BECFCC7DAA98}" destId="{73A9B569-7203-4C25-AF0C-114A868BE571}" srcOrd="1" destOrd="0" presId="urn:microsoft.com/office/officeart/2018/2/layout/IconLabelList"/>
    <dgm:cxn modelId="{85ECB28E-31E4-4374-BEFB-ECA4BFC0DF97}" type="presParOf" srcId="{6D9EB326-2A6D-4877-A950-BECFCC7DAA98}" destId="{44CC7F79-F8D6-4478-9403-825A044532F7}" srcOrd="2" destOrd="0" presId="urn:microsoft.com/office/officeart/2018/2/layout/IconLabelList"/>
    <dgm:cxn modelId="{2E98FA46-0809-45B7-BF80-5B7C6A83BAB5}" type="presParOf" srcId="{F20B8BD9-E476-4008-8D13-81F09F2D2BF4}" destId="{4237D186-270D-4854-9120-211109D32963}" srcOrd="3" destOrd="0" presId="urn:microsoft.com/office/officeart/2018/2/layout/IconLabelList"/>
    <dgm:cxn modelId="{AEFA9A1D-071A-4998-898F-1A9E319C8E80}" type="presParOf" srcId="{F20B8BD9-E476-4008-8D13-81F09F2D2BF4}" destId="{80BBDEF1-C5F4-47A3-82D8-B114B0B21B47}" srcOrd="4" destOrd="0" presId="urn:microsoft.com/office/officeart/2018/2/layout/IconLabelList"/>
    <dgm:cxn modelId="{316F670D-7827-4F28-9EA5-7549A6663D23}" type="presParOf" srcId="{80BBDEF1-C5F4-47A3-82D8-B114B0B21B47}" destId="{4B15633F-72FA-42C8-990F-BFB62C29C7C0}" srcOrd="0" destOrd="0" presId="urn:microsoft.com/office/officeart/2018/2/layout/IconLabelList"/>
    <dgm:cxn modelId="{D18BC35E-3F49-4DBE-B495-B44C6B92DB31}" type="presParOf" srcId="{80BBDEF1-C5F4-47A3-82D8-B114B0B21B47}" destId="{DBC0548C-C88D-4647-A319-E28708906614}" srcOrd="1" destOrd="0" presId="urn:microsoft.com/office/officeart/2018/2/layout/IconLabelList"/>
    <dgm:cxn modelId="{F45D690C-40DB-484A-AF61-4D29EED642E1}" type="presParOf" srcId="{80BBDEF1-C5F4-47A3-82D8-B114B0B21B47}" destId="{4B939E9E-91F4-418E-940A-691869A082D8}" srcOrd="2" destOrd="0" presId="urn:microsoft.com/office/officeart/2018/2/layout/IconLabelList"/>
    <dgm:cxn modelId="{161EF901-1883-4CEC-9E5D-42F49A496EED}" type="presParOf" srcId="{F20B8BD9-E476-4008-8D13-81F09F2D2BF4}" destId="{B6B03CAD-6728-4FA7-A46D-CCA9201CF871}" srcOrd="5" destOrd="0" presId="urn:microsoft.com/office/officeart/2018/2/layout/IconLabelList"/>
    <dgm:cxn modelId="{73E63848-BEB5-4DD9-8002-577DBBFDC9BB}" type="presParOf" srcId="{F20B8BD9-E476-4008-8D13-81F09F2D2BF4}" destId="{F4910ACD-F976-49AC-A839-F48BBA7F0FEA}" srcOrd="6" destOrd="0" presId="urn:microsoft.com/office/officeart/2018/2/layout/IconLabelList"/>
    <dgm:cxn modelId="{9EAA030F-90E0-4DFE-8F54-DA8BBCDC19DC}" type="presParOf" srcId="{F4910ACD-F976-49AC-A839-F48BBA7F0FEA}" destId="{7CBCE240-781C-4FF1-B411-01A101E441C9}" srcOrd="0" destOrd="0" presId="urn:microsoft.com/office/officeart/2018/2/layout/IconLabelList"/>
    <dgm:cxn modelId="{3219FC15-56BC-4263-BACA-030E67F7970C}" type="presParOf" srcId="{F4910ACD-F976-49AC-A839-F48BBA7F0FEA}" destId="{492CA1F1-E5BF-47CD-83B8-FA08B8D37D24}" srcOrd="1" destOrd="0" presId="urn:microsoft.com/office/officeart/2018/2/layout/IconLabelList"/>
    <dgm:cxn modelId="{49B54618-0C8F-4011-B329-049FF8BEF6A8}" type="presParOf" srcId="{F4910ACD-F976-49AC-A839-F48BBA7F0FEA}" destId="{68F4AFB9-AD22-472C-B3FC-337BDD24C2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478A5-0A5B-47BC-98D7-828BF47103A2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955BC-8FC0-454D-B0C5-B3CEB25E421A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Faster delivery</a:t>
          </a:r>
        </a:p>
      </dsp:txBody>
      <dsp:txXfrm>
        <a:off x="100682" y="2427484"/>
        <a:ext cx="2370489" cy="720000"/>
      </dsp:txXfrm>
    </dsp:sp>
    <dsp:sp modelId="{F1DEF3A3-FB67-4B6D-AD66-F69E9476C26A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C7F79-F8D6-4478-9403-825A044532F7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Better alignment with business goals</a:t>
          </a:r>
        </a:p>
      </dsp:txBody>
      <dsp:txXfrm>
        <a:off x="2886007" y="2427484"/>
        <a:ext cx="2370489" cy="720000"/>
      </dsp:txXfrm>
    </dsp:sp>
    <dsp:sp modelId="{4B15633F-72FA-42C8-990F-BFB62C29C7C0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39E9E-91F4-418E-940A-691869A082D8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Higher quality and reliability</a:t>
          </a:r>
        </a:p>
      </dsp:txBody>
      <dsp:txXfrm>
        <a:off x="5671332" y="2427484"/>
        <a:ext cx="2370489" cy="720000"/>
      </dsp:txXfrm>
    </dsp:sp>
    <dsp:sp modelId="{7CBCE240-781C-4FF1-B411-01A101E441C9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4AFB9-AD22-472C-B3FC-337BDD24C29D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Increased customer satisfaction</a:t>
          </a:r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opsinstitute.com/value-stream-management-explained-in-plain-english/?utm_source=chatgpt.com" TargetMode="External"/><Relationship Id="rId2" Type="http://schemas.openxmlformats.org/officeDocument/2006/relationships/hyperlink" Target="https://www.ibm.com/think/topics/value-stream-management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aws.amazon.com/prescriptive-guidance/latest/strategy-devops-value-stream-mapping/introduc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The Technology Value Stream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</a:rPr>
              <a:t>Lead Time, Processing Time, and DevOps Delivery Goals</a:t>
            </a:r>
          </a:p>
          <a:p>
            <a:pPr algn="l"/>
            <a:r>
              <a:rPr lang="en-US" sz="1300">
                <a:solidFill>
                  <a:srgbClr val="FFFFFF"/>
                </a:solidFill>
              </a:rPr>
              <a:t>By: Cameron Mendez</a:t>
            </a:r>
          </a:p>
          <a:p>
            <a:pPr algn="l"/>
            <a:r>
              <a:rPr lang="en-US" sz="1300">
                <a:solidFill>
                  <a:srgbClr val="FFFFFF"/>
                </a:solidFill>
              </a:rPr>
              <a:t>CSD-380: DevOps</a:t>
            </a:r>
          </a:p>
          <a:p>
            <a:pPr algn="l"/>
            <a:r>
              <a:rPr lang="en-US" sz="1300">
                <a:solidFill>
                  <a:srgbClr val="FFFFFF"/>
                </a:solidFill>
              </a:rPr>
              <a:t>01/18/2026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Close-up of illuminated circuit board">
            <a:extLst>
              <a:ext uri="{FF2B5EF4-FFF2-40B4-BE49-F238E27FC236}">
                <a16:creationId xmlns:a16="http://schemas.microsoft.com/office/drawing/2014/main" id="{0A2B361D-596D-ED62-1841-672F3F3B24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21256"/>
          <a:stretch>
            <a:fillRect/>
          </a:stretch>
        </p:blipFill>
        <p:spPr>
          <a:xfrm>
            <a:off x="6920559" y="2384117"/>
            <a:ext cx="3737164" cy="210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9D8B2-08C0-0C43-88B3-460D8518E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is a Technology Value Stream?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B0DBD-0F20-0496-483F-24A9C7E1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i="1"/>
              <a:t>Definition:</a:t>
            </a:r>
            <a:r>
              <a:rPr lang="en-US" sz="2000"/>
              <a:t> A technology value stream is the end-to-end flow of activities required to deliver software or technology products to customers. Encompassing everything from idea inception to deployment, including development, testing, and delivery. 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b="1" i="1"/>
              <a:t>Why it matters:</a:t>
            </a:r>
            <a:r>
              <a:rPr lang="en-US" sz="2000"/>
              <a:t> It helps teams see bottlenecks, reduce waster, and optimize their delivery flow. </a:t>
            </a:r>
            <a:r>
              <a:rPr lang="en-US" sz="2000" i="1" u="sng">
                <a:ea typeface="+mn-lt"/>
                <a:cs typeface="+mn-lt"/>
              </a:rPr>
              <a:t>IBM Think - “What Is Value Stream Management”</a:t>
            </a:r>
            <a:endParaRPr lang="en-US" sz="2000" i="1" u="sng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58668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DF6E6-4A10-F84B-11EE-520CB68C1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Lead Time vs Processing Time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79B2715-1AA6-A3FA-FD13-7B0C63A59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/>
              <a:t>Lead Time:</a:t>
            </a:r>
          </a:p>
          <a:p>
            <a:pPr marL="457200" indent="-457200"/>
            <a:r>
              <a:rPr lang="en-US" sz="1400"/>
              <a:t>The total time from when a request is made until it's delivered to the customer.</a:t>
            </a:r>
          </a:p>
          <a:p>
            <a:pPr marL="457200" indent="-457200"/>
            <a:r>
              <a:rPr lang="en-US" sz="1400"/>
              <a:t>Includes waiting, queuing, and everything that slows delivery.  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Processing Time:</a:t>
            </a:r>
          </a:p>
          <a:p>
            <a:pPr marL="457200" indent="-457200"/>
            <a:r>
              <a:rPr lang="en-US" sz="1400"/>
              <a:t>Actual time spent working on the request, being productive.</a:t>
            </a:r>
          </a:p>
          <a:p>
            <a:pPr marL="457200" indent="-457200"/>
            <a:r>
              <a:rPr lang="en-US" sz="1400"/>
              <a:t>Doesn't include wait times or handoffs. </a:t>
            </a:r>
          </a:p>
          <a:p>
            <a:pPr marL="0" indent="0">
              <a:buNone/>
            </a:pPr>
            <a:endParaRPr lang="en-US" sz="1400"/>
          </a:p>
          <a:p>
            <a:pPr>
              <a:buNone/>
            </a:pPr>
            <a:r>
              <a:rPr lang="en-US" sz="1400" i="1" u="sng">
                <a:ea typeface="+mn-lt"/>
                <a:cs typeface="+mn-lt"/>
              </a:rPr>
              <a:t>The DevOps Handbook 2nd Ed. - page 9</a:t>
            </a:r>
            <a:endParaRPr lang="en-US" sz="1400" i="1" u="sng"/>
          </a:p>
          <a:p>
            <a:pPr marL="0" indent="0">
              <a:buNone/>
            </a:pPr>
            <a:endParaRPr lang="en-US" sz="1400"/>
          </a:p>
        </p:txBody>
      </p:sp>
      <p:pic>
        <p:nvPicPr>
          <p:cNvPr id="32" name="Picture 31" descr="Analogue wall clock">
            <a:extLst>
              <a:ext uri="{FF2B5EF4-FFF2-40B4-BE49-F238E27FC236}">
                <a16:creationId xmlns:a16="http://schemas.microsoft.com/office/drawing/2014/main" id="{E6D5BB99-1E1C-FFBD-AA23-757A034F4F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49" r="27133" b="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4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17D80-E8A1-615D-5C71-82B4E972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The Common Scenario: </a:t>
            </a:r>
            <a:r>
              <a:rPr lang="en-US" sz="3400" i="1">
                <a:solidFill>
                  <a:srgbClr val="FFFFFF"/>
                </a:solidFill>
              </a:rPr>
              <a:t>Deployment Lead Times Requiring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21C4-E3A1-1ED8-BC7E-6B81275D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/>
              <a:t>Before DevOps practices, organizations often experienced:</a:t>
            </a:r>
          </a:p>
          <a:p>
            <a:pPr marL="457200" indent="-457200"/>
            <a:r>
              <a:rPr lang="en-US" sz="2000"/>
              <a:t>Long release cycles</a:t>
            </a:r>
          </a:p>
          <a:p>
            <a:pPr marL="457200" indent="-457200"/>
            <a:r>
              <a:rPr lang="en-US" sz="2000"/>
              <a:t>Isolated teams</a:t>
            </a:r>
          </a:p>
          <a:p>
            <a:pPr marL="457200" indent="-457200"/>
            <a:r>
              <a:rPr lang="en-US" sz="2000"/>
              <a:t>Heavy manual processes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These factors resulted in deployments taking weeks to months.</a:t>
            </a:r>
          </a:p>
          <a:p>
            <a:pPr marL="0" indent="0">
              <a:buNone/>
            </a:pPr>
            <a:r>
              <a:rPr lang="en-US" sz="2000" i="1" u="sng">
                <a:ea typeface="+mn-lt"/>
                <a:cs typeface="+mn-lt"/>
              </a:rPr>
              <a:t>The DevOps Handbook 2nd Ed. - page 10</a:t>
            </a:r>
            <a:endParaRPr lang="en-US" sz="2000" i="1" u="sng"/>
          </a:p>
        </p:txBody>
      </p:sp>
    </p:spTree>
    <p:extLst>
      <p:ext uri="{BB962C8B-B14F-4D97-AF65-F5344CB8AC3E}">
        <p14:creationId xmlns:p14="http://schemas.microsoft.com/office/powerpoint/2010/main" val="230172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87A40C-E841-6DAA-10A9-306A57CE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/>
              <a:t>Our DevOps Ideal: </a:t>
            </a:r>
            <a:r>
              <a:rPr lang="en-US" sz="3700" i="1"/>
              <a:t>Deployment Lead Times of Minutes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C90D78E-2DCA-D0FA-8B79-4C52DD07E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/>
              <a:t>DevOps aims for:</a:t>
            </a:r>
          </a:p>
          <a:p>
            <a:pPr marL="457200" indent="-457200"/>
            <a:r>
              <a:rPr lang="en-US" sz="2000"/>
              <a:t>Frequent releases</a:t>
            </a:r>
          </a:p>
          <a:p>
            <a:pPr marL="457200" indent="-457200"/>
            <a:r>
              <a:rPr lang="en-US" sz="2000"/>
              <a:t>Automated pipelines</a:t>
            </a:r>
          </a:p>
          <a:p>
            <a:pPr marL="457200" indent="-457200"/>
            <a:r>
              <a:rPr lang="en-US" sz="2000"/>
              <a:t>Fast feedback loops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This supports rapid delivery of value and improved quality.</a:t>
            </a:r>
          </a:p>
          <a:p>
            <a:pPr>
              <a:buNone/>
            </a:pPr>
            <a:r>
              <a:rPr lang="en-US" sz="2000" i="1" u="sng"/>
              <a:t>The DevOps Handbook 2nd Ed. - page 10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84727C4-562E-B480-E8A9-44D994325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85" r="23097" b="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1469ED-DF34-4912-C9FA-FD1E0078C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Value Stream Visual</a:t>
            </a:r>
          </a:p>
        </p:txBody>
      </p:sp>
      <p:pic>
        <p:nvPicPr>
          <p:cNvPr id="4" name="Content Placeholder 3" descr="A diagram of a software testing process&#10;&#10;AI-generated content may be incorrect.">
            <a:extLst>
              <a:ext uri="{FF2B5EF4-FFF2-40B4-BE49-F238E27FC236}">
                <a16:creationId xmlns:a16="http://schemas.microsoft.com/office/drawing/2014/main" id="{63944668-EFE1-0CFA-5218-9D6788318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172008"/>
            <a:ext cx="7188199" cy="451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0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42FB6-35E8-1C77-1C9D-4F9299D4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Benefits of Focusing of Lead Time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A88DFE-8058-AB76-65FD-EC39AE6DB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6314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9653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992A4-E8D3-36A2-7CD0-FF1C5498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0D8C4-1238-DD63-1D05-1CCD1E21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ea typeface="+mn-lt"/>
                <a:cs typeface="+mn-lt"/>
              </a:rPr>
              <a:t>Kim, G., Humble, J., Debois, P., Willis, J., &amp; Forsgren, N. (2021). </a:t>
            </a:r>
            <a:r>
              <a:rPr lang="en-US" sz="1700" i="1" dirty="0">
                <a:ea typeface="+mn-lt"/>
                <a:cs typeface="+mn-lt"/>
              </a:rPr>
              <a:t>The DevOps Handbook: How to create world‑class agility, reliability, &amp; security in technology organizations</a:t>
            </a:r>
            <a:r>
              <a:rPr lang="en-US" sz="1700" dirty="0">
                <a:ea typeface="+mn-lt"/>
                <a:cs typeface="+mn-lt"/>
              </a:rPr>
              <a:t> (2nd ed.). IT Revolution Press.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ea typeface="+mn-lt"/>
                <a:cs typeface="+mn-lt"/>
              </a:rPr>
              <a:t>IBM. (n.d.). </a:t>
            </a:r>
            <a:r>
              <a:rPr lang="en-US" sz="1700" i="1" dirty="0">
                <a:ea typeface="+mn-lt"/>
                <a:cs typeface="+mn-lt"/>
              </a:rPr>
              <a:t>What is value stream management?</a:t>
            </a:r>
            <a:r>
              <a:rPr lang="en-US" sz="1700" dirty="0">
                <a:ea typeface="+mn-lt"/>
                <a:cs typeface="+mn-lt"/>
              </a:rPr>
              <a:t> IBM. Retrieved January 18, 2026, from </a:t>
            </a:r>
            <a:r>
              <a:rPr lang="en-US" sz="1700" dirty="0">
                <a:ea typeface="+mn-lt"/>
                <a:cs typeface="+mn-lt"/>
                <a:hlinkClick r:id="rId2"/>
              </a:rPr>
              <a:t>https://www.ibm.com/think/topics/value-stream-management</a:t>
            </a:r>
            <a:endParaRPr lang="en-US" sz="17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ea typeface="+mn-lt"/>
                <a:cs typeface="+mn-lt"/>
              </a:rPr>
              <a:t>Prakash, S. (n.d.). </a:t>
            </a:r>
            <a:r>
              <a:rPr lang="en-US" sz="1700" i="1" dirty="0">
                <a:ea typeface="+mn-lt"/>
                <a:cs typeface="+mn-lt"/>
              </a:rPr>
              <a:t>Value stream management: Explained in plain English.</a:t>
            </a:r>
            <a:r>
              <a:rPr lang="en-US" sz="1700" dirty="0">
                <a:ea typeface="+mn-lt"/>
                <a:cs typeface="+mn-lt"/>
              </a:rPr>
              <a:t> DevOps Institute. Retrieved January 18, 2026, from </a:t>
            </a:r>
            <a:r>
              <a:rPr lang="en-US" sz="1700" dirty="0">
                <a:ea typeface="+mn-lt"/>
                <a:cs typeface="+mn-lt"/>
                <a:hlinkClick r:id="rId3"/>
              </a:rPr>
              <a:t>https://www.devopsinstitute.com/value-stream-management-explained-in-plain-english/</a:t>
            </a:r>
            <a:endParaRPr lang="en-US" sz="17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ea typeface="+mn-lt"/>
                <a:cs typeface="+mn-lt"/>
              </a:rPr>
              <a:t>Amazon Web Services. (2023). </a:t>
            </a:r>
            <a:r>
              <a:rPr lang="en-US" sz="1700" i="1" dirty="0">
                <a:ea typeface="+mn-lt"/>
                <a:cs typeface="+mn-lt"/>
              </a:rPr>
              <a:t>Using development value stream mapping to identify constraints to DevOps outcomes</a:t>
            </a:r>
            <a:r>
              <a:rPr lang="en-US" sz="1700" dirty="0">
                <a:ea typeface="+mn-lt"/>
                <a:cs typeface="+mn-lt"/>
              </a:rPr>
              <a:t> [Development value stream map example]. AWS Prescriptive Guidance. Retrieved January 18, 2026, from </a:t>
            </a:r>
            <a:r>
              <a:rPr lang="en-US" sz="1700" dirty="0">
                <a:ea typeface="+mn-lt"/>
                <a:cs typeface="+mn-lt"/>
                <a:hlinkClick r:id="rId4"/>
              </a:rPr>
              <a:t>https://docs.aws.amazon.com/prescriptive-guidance/latest/strategy-devops-value-stream-mapping/introduction.html</a:t>
            </a:r>
            <a:endParaRPr lang="en-US" sz="17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7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dirty="0"/>
              <a:t>https://app.grammarly.com/</a:t>
            </a:r>
          </a:p>
        </p:txBody>
      </p:sp>
    </p:spTree>
    <p:extLst>
      <p:ext uri="{BB962C8B-B14F-4D97-AF65-F5344CB8AC3E}">
        <p14:creationId xmlns:p14="http://schemas.microsoft.com/office/powerpoint/2010/main" val="2190306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456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The Technology Value Stream</vt:lpstr>
      <vt:lpstr>What is a Technology Value Stream?</vt:lpstr>
      <vt:lpstr>Lead Time vs Processing Time</vt:lpstr>
      <vt:lpstr>The Common Scenario: Deployment Lead Times Requiring Months</vt:lpstr>
      <vt:lpstr>Our DevOps Ideal: Deployment Lead Times of Minutes</vt:lpstr>
      <vt:lpstr>Value Stream Visual</vt:lpstr>
      <vt:lpstr>Benefits of Focusing of Lead Time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Cameron Mendez</cp:lastModifiedBy>
  <cp:revision>219</cp:revision>
  <dcterms:created xsi:type="dcterms:W3CDTF">2026-01-18T15:51:49Z</dcterms:created>
  <dcterms:modified xsi:type="dcterms:W3CDTF">2026-01-18T19:39:39Z</dcterms:modified>
</cp:coreProperties>
</file>