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49E29C6-C274-B062-535C-BF4A3912CA8E}" v="1372" dt="2026-03-07T21:20:44.63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yberark.com/resources/blog/code-repositories-the-growing-threat-landscape" TargetMode="External"/><Relationship Id="rId2" Type="http://schemas.openxmlformats.org/officeDocument/2006/relationships/hyperlink" Target="https://get.assembla.com/blog/source-code-security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stackoverflow.blog/2022/01/24/securing-the-data-in-your-online-code-repository-is-a-shared-responsibility/" TargetMode="External"/><Relationship Id="rId4" Type="http://schemas.openxmlformats.org/officeDocument/2006/relationships/hyperlink" Target="https://www.endpointprotector.com/blog/your-ultimate-guide-to-source-code-protection/?utm_source=chatgpt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FFD48BC7-DC40-47DE-87EE-9F4B6ECB9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9" name="Freeform: Shape 28">
            <a:extLst>
              <a:ext uri="{FF2B5EF4-FFF2-40B4-BE49-F238E27FC236}">
                <a16:creationId xmlns:a16="http://schemas.microsoft.com/office/drawing/2014/main" id="{E502BBC7-2C76-46F3-BC24-5985BC13D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4425" y="0"/>
            <a:ext cx="9963150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139700" sx="102000" sy="102000" algn="ctr" rotWithShape="0">
              <a:schemeClr val="bg1">
                <a:lumMod val="85000"/>
                <a:alpha val="38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1" name="Freeform: Shape 30">
            <a:extLst>
              <a:ext uri="{FF2B5EF4-FFF2-40B4-BE49-F238E27FC236}">
                <a16:creationId xmlns:a16="http://schemas.microsoft.com/office/drawing/2014/main" id="{C7F28D52-2A5F-4D23-81AE-7CB8B591C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1664" y="0"/>
            <a:ext cx="9948672" cy="6858000"/>
          </a:xfrm>
          <a:custGeom>
            <a:avLst/>
            <a:gdLst>
              <a:gd name="connsiteX0" fmla="*/ 1595771 w 9963150"/>
              <a:gd name="connsiteY0" fmla="*/ 0 h 6858000"/>
              <a:gd name="connsiteX1" fmla="*/ 8367379 w 9963150"/>
              <a:gd name="connsiteY1" fmla="*/ 0 h 6858000"/>
              <a:gd name="connsiteX2" fmla="*/ 8504080 w 9963150"/>
              <a:gd name="connsiteY2" fmla="*/ 130333 h 6858000"/>
              <a:gd name="connsiteX3" fmla="*/ 9963150 w 9963150"/>
              <a:gd name="connsiteY3" fmla="*/ 3652838 h 6858000"/>
              <a:gd name="connsiteX4" fmla="*/ 8825600 w 9963150"/>
              <a:gd name="connsiteY4" fmla="*/ 6821583 h 6858000"/>
              <a:gd name="connsiteX5" fmla="*/ 8794055 w 9963150"/>
              <a:gd name="connsiteY5" fmla="*/ 6858000 h 6858000"/>
              <a:gd name="connsiteX6" fmla="*/ 1169096 w 9963150"/>
              <a:gd name="connsiteY6" fmla="*/ 6858000 h 6858000"/>
              <a:gd name="connsiteX7" fmla="*/ 1137550 w 9963150"/>
              <a:gd name="connsiteY7" fmla="*/ 6821583 h 6858000"/>
              <a:gd name="connsiteX8" fmla="*/ 0 w 9963150"/>
              <a:gd name="connsiteY8" fmla="*/ 3652838 h 6858000"/>
              <a:gd name="connsiteX9" fmla="*/ 1459070 w 9963150"/>
              <a:gd name="connsiteY9" fmla="*/ 13033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963150" h="6858000">
                <a:moveTo>
                  <a:pt x="1595771" y="0"/>
                </a:moveTo>
                <a:lnTo>
                  <a:pt x="8367379" y="0"/>
                </a:lnTo>
                <a:lnTo>
                  <a:pt x="8504080" y="130333"/>
                </a:lnTo>
                <a:cubicBezTo>
                  <a:pt x="9405568" y="1031820"/>
                  <a:pt x="9963150" y="2277214"/>
                  <a:pt x="9963150" y="3652838"/>
                </a:cubicBezTo>
                <a:cubicBezTo>
                  <a:pt x="9963150" y="4856509"/>
                  <a:pt x="9536251" y="5960473"/>
                  <a:pt x="8825600" y="6821583"/>
                </a:cubicBezTo>
                <a:lnTo>
                  <a:pt x="8794055" y="6858000"/>
                </a:lnTo>
                <a:lnTo>
                  <a:pt x="1169096" y="6858000"/>
                </a:lnTo>
                <a:lnTo>
                  <a:pt x="1137550" y="6821583"/>
                </a:lnTo>
                <a:cubicBezTo>
                  <a:pt x="426899" y="5960473"/>
                  <a:pt x="0" y="4856509"/>
                  <a:pt x="0" y="3652838"/>
                </a:cubicBezTo>
                <a:cubicBezTo>
                  <a:pt x="0" y="2277214"/>
                  <a:pt x="557582" y="1031820"/>
                  <a:pt x="1459070" y="130333"/>
                </a:cubicBez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3" y="1999615"/>
            <a:ext cx="9144000" cy="2764028"/>
          </a:xfrm>
        </p:spPr>
        <p:txBody>
          <a:bodyPr anchor="ctr">
            <a:normAutofit/>
          </a:bodyPr>
          <a:lstStyle/>
          <a:p>
            <a:r>
              <a:rPr lang="en-US" sz="6100">
                <a:ea typeface="+mj-lt"/>
                <a:cs typeface="+mj-lt"/>
              </a:rPr>
              <a:t>Security Controls in Shared Source Code Repositories</a:t>
            </a:r>
            <a:endParaRPr lang="en-US" sz="610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66912" y="5888990"/>
            <a:ext cx="8258176" cy="631825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1800"/>
              <a:t>Cameron Mendez</a:t>
            </a:r>
          </a:p>
          <a:p>
            <a:r>
              <a:rPr lang="en-US" sz="1800"/>
              <a:t>CSD-380 Module-11.2</a:t>
            </a:r>
          </a:p>
          <a:p>
            <a:r>
              <a:rPr lang="en-US" sz="1800"/>
              <a:t>03/07/2026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629484E-3792-4B3D-89AD-7C8A1ED0E0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18560" y="5524786"/>
            <a:ext cx="4754880" cy="2743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E8DB49-553D-2C5C-4F8F-627FDA03EC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Source Code Secur</a:t>
            </a:r>
            <a:r>
              <a:rPr lang="en-US">
                <a:solidFill>
                  <a:srgbClr val="FFFFFF"/>
                </a:solidFill>
                <a:latin typeface="Aptos Display"/>
              </a:rPr>
              <a:t>ity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21" name="Arc 20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C7B4DE-736C-9B76-3134-10C006044A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600"/>
              <a:t>Shared source code repositories allow development teams to collaborate, store, and manage application code in a centralized or distributed environment. These repositories often contain valuable intellectual property and sensitive information. </a:t>
            </a:r>
          </a:p>
          <a:p>
            <a:pPr marL="0" indent="0">
              <a:buNone/>
            </a:pPr>
            <a:r>
              <a:rPr lang="en-US" sz="2600"/>
              <a:t>Key takeaways:</a:t>
            </a:r>
          </a:p>
          <a:p>
            <a:r>
              <a:rPr lang="en-US" sz="2600"/>
              <a:t>Repositories contain critical intellectual property</a:t>
            </a:r>
          </a:p>
          <a:p>
            <a:r>
              <a:rPr lang="en-US" sz="2600"/>
              <a:t>Breaches can expose sensitive company data</a:t>
            </a:r>
          </a:p>
          <a:p>
            <a:r>
              <a:rPr lang="en-US" sz="2600"/>
              <a:t>Security must be essential for practicing software development assets</a:t>
            </a:r>
          </a:p>
        </p:txBody>
      </p:sp>
    </p:spTree>
    <p:extLst>
      <p:ext uri="{BB962C8B-B14F-4D97-AF65-F5344CB8AC3E}">
        <p14:creationId xmlns:p14="http://schemas.microsoft.com/office/powerpoint/2010/main" val="17481551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0A18C8-40F8-A25D-58B3-84E4ED8B1D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The Expanding Threat Landscape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8B9143-5A08-6BAE-6AED-3E35174FEF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600"/>
              <a:t>Source code repositories have become increasingly targeted by cyber attackers. Supply chain attacks and repository breaches have increased dramatically in recent years, demonstrating the growing importance of protecting development environments.</a:t>
            </a:r>
          </a:p>
          <a:p>
            <a:pPr marL="0" indent="0">
              <a:buNone/>
            </a:pPr>
            <a:r>
              <a:rPr lang="en-US" sz="2600"/>
              <a:t>Attackers target repositories to:</a:t>
            </a:r>
          </a:p>
          <a:p>
            <a:r>
              <a:rPr lang="en-US" sz="2600"/>
              <a:t>Steal proprietary source code</a:t>
            </a:r>
          </a:p>
          <a:p>
            <a:r>
              <a:rPr lang="en-US" sz="2600"/>
              <a:t>Access credentials embedded in code</a:t>
            </a:r>
          </a:p>
          <a:p>
            <a:r>
              <a:rPr lang="en-US" sz="2600"/>
              <a:t>Inject malicious code into software supply chains</a:t>
            </a:r>
          </a:p>
          <a:p>
            <a:r>
              <a:rPr lang="en-US" sz="2600"/>
              <a:t>Gather internal documentation</a:t>
            </a:r>
          </a:p>
        </p:txBody>
      </p:sp>
    </p:spTree>
    <p:extLst>
      <p:ext uri="{BB962C8B-B14F-4D97-AF65-F5344CB8AC3E}">
        <p14:creationId xmlns:p14="http://schemas.microsoft.com/office/powerpoint/2010/main" val="6272119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97D66B-ED82-AA95-0BCB-DDB467B9A8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Risks of Source Code Exposure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A48588-619F-2158-E7FA-795BCE18C5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/>
              <a:t>When attackers gain access to repositories, several serious risks can occur:</a:t>
            </a:r>
          </a:p>
          <a:p>
            <a:r>
              <a:rPr lang="en-US" dirty="0"/>
              <a:t>Intellectual Property Theft: unauthorized access can allow competitors or attackers to replicate and steal or modify software without permission.</a:t>
            </a:r>
          </a:p>
          <a:p>
            <a:r>
              <a:rPr lang="en-US" dirty="0"/>
              <a:t>Data Breaches: Sensitive data like API keys, credentials, or employee data could be </a:t>
            </a:r>
            <a:r>
              <a:rPr lang="en-US"/>
              <a:t>exposed.</a:t>
            </a:r>
          </a:p>
          <a:p>
            <a:r>
              <a:rPr lang="en-US" dirty="0"/>
              <a:t>Legal and Financial Consequences: Security breaches can lead to lawsuits and regulatory </a:t>
            </a:r>
            <a:r>
              <a:rPr lang="en-US"/>
              <a:t>penalties. 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05941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899197-5A65-3236-0F6F-EED8BD6EF1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 sz="3700">
                <a:solidFill>
                  <a:srgbClr val="FFFFFF"/>
                </a:solidFill>
              </a:rPr>
              <a:t>Access Control and Authentication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532B40-ACCE-EE5C-D548-D9ECDAE575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dirty="0"/>
              <a:t>One of the most key security controls is limiting access to repositories. Organizations should enforce two-factor authentication to ensure that only authorized users can access code repositories. As well as; implementing role-based access control, granting access only to users who need it, and following the principle of least privilege. These controls significantly reduce the risk of unauthori</a:t>
            </a:r>
            <a:r>
              <a:rPr lang="en-US"/>
              <a:t>zed access and accidental exposure of code. 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74941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2BB48A-1374-3042-63B0-E785C1FC0F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Protecting Secrets and Sensitive Data</a:t>
            </a:r>
          </a:p>
        </p:txBody>
      </p:sp>
      <p:sp>
        <p:nvSpPr>
          <p:cNvPr id="23" name="Arc 22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511D-E172-35EC-1B52-97A4EA77B2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/>
              <a:t>Repositories sometimes contain sensitive information such as:</a:t>
            </a:r>
          </a:p>
          <a:p>
            <a:pPr marL="457200" indent="-457200"/>
            <a:r>
              <a:rPr lang="en-US"/>
              <a:t>Passwords</a:t>
            </a:r>
          </a:p>
          <a:p>
            <a:pPr marL="457200" indent="-457200"/>
            <a:r>
              <a:rPr lang="en-US"/>
              <a:t>API keys</a:t>
            </a:r>
          </a:p>
          <a:p>
            <a:pPr marL="457200" indent="-457200"/>
            <a:r>
              <a:rPr lang="en-US"/>
              <a:t>Access tokens</a:t>
            </a:r>
          </a:p>
          <a:p>
            <a:pPr marL="457200" indent="-457200"/>
            <a:r>
              <a:rPr lang="en-US"/>
              <a:t>Configuration secrets</a:t>
            </a:r>
          </a:p>
          <a:p>
            <a:pPr marL="0" indent="0">
              <a:buNone/>
            </a:pPr>
            <a:r>
              <a:rPr lang="en-US"/>
              <a:t>Organizations should never store these secrets directly in source code repositories. Instead, they should use secure management tools with encryption. </a:t>
            </a:r>
          </a:p>
        </p:txBody>
      </p:sp>
    </p:spTree>
    <p:extLst>
      <p:ext uri="{BB962C8B-B14F-4D97-AF65-F5344CB8AC3E}">
        <p14:creationId xmlns:p14="http://schemas.microsoft.com/office/powerpoint/2010/main" val="1110025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4637902-83FC-1E14-4312-83CF55EFA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Security Policies and Developer Practices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275333-1266-8099-24B2-98295CBC5B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dirty="0"/>
              <a:t>Effective repository security also depends on clear organizational policies. Organizations should establish:</a:t>
            </a:r>
          </a:p>
          <a:p>
            <a:pPr marL="457200" indent="-457200"/>
            <a:r>
              <a:rPr lang="en-US"/>
              <a:t>Secure coding guidelines</a:t>
            </a:r>
            <a:endParaRPr lang="en-US" dirty="0"/>
          </a:p>
          <a:p>
            <a:pPr marL="457200" indent="-457200"/>
            <a:r>
              <a:rPr lang="en-US"/>
              <a:t>Code review procedures</a:t>
            </a:r>
          </a:p>
          <a:p>
            <a:pPr marL="457200" indent="-457200"/>
            <a:r>
              <a:rPr lang="en-US" dirty="0"/>
              <a:t>Policies for handling </a:t>
            </a:r>
            <a:r>
              <a:rPr lang="en-US"/>
              <a:t>vulnerabilities</a:t>
            </a:r>
          </a:p>
          <a:p>
            <a:pPr marL="457200" indent="-457200"/>
            <a:r>
              <a:rPr lang="en-US"/>
              <a:t>Training for developers working with repositories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76745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A274B1-AF9D-FAED-489E-D0656EA28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Monitoring, Logging, and Auditing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848487-DD69-7704-4FBB-547452FEE3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/>
              <a:t>Continuous monitoring is another critical security control.</a:t>
            </a:r>
          </a:p>
          <a:p>
            <a:pPr marL="0" indent="0">
              <a:buNone/>
            </a:pPr>
            <a:r>
              <a:rPr lang="en-US" dirty="0"/>
              <a:t>Securi</a:t>
            </a:r>
            <a:r>
              <a:rPr lang="en-US"/>
              <a:t>ty teams should track repository activity including:</a:t>
            </a:r>
          </a:p>
          <a:p>
            <a:pPr marL="457200" indent="-457200"/>
            <a:r>
              <a:rPr lang="en-US"/>
              <a:t>Repository access</a:t>
            </a:r>
          </a:p>
          <a:p>
            <a:pPr marL="457200" indent="-457200"/>
            <a:r>
              <a:rPr lang="en-US"/>
              <a:t>Code commits</a:t>
            </a:r>
          </a:p>
          <a:p>
            <a:pPr marL="457200" indent="-457200"/>
            <a:r>
              <a:rPr lang="en-US"/>
              <a:t>Merge requests</a:t>
            </a:r>
          </a:p>
          <a:p>
            <a:pPr marL="457200" indent="-457200"/>
            <a:r>
              <a:rPr lang="en-US"/>
              <a:t>Changes to critical files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93905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17EF40-B1EB-0E19-D179-111844A9F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9FCB39-DAD8-E2F2-2EBF-F0FF22241D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dirty="0"/>
              <a:t>Shared source code repositories are essential tools for modern software development, but they also present significant security risks. Organizations should implement multiple layers of security </a:t>
            </a:r>
            <a:r>
              <a:rPr lang="en-US"/>
              <a:t>controls. Combining multiple practices, organizations can better </a:t>
            </a:r>
            <a:r>
              <a:rPr lang="en-US" dirty="0"/>
              <a:t>protect their source code, IP, and development environments. </a:t>
            </a:r>
          </a:p>
        </p:txBody>
      </p:sp>
    </p:spTree>
    <p:extLst>
      <p:ext uri="{BB962C8B-B14F-4D97-AF65-F5344CB8AC3E}">
        <p14:creationId xmlns:p14="http://schemas.microsoft.com/office/powerpoint/2010/main" val="15242438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A52B76-A6AA-6586-18EE-B49B9FE967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References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E1777B-D1A5-B4F7-888F-568CC66A0F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None/>
            </a:pPr>
            <a:r>
              <a:rPr lang="en-US" sz="1800" err="1">
                <a:ea typeface="+mn-lt"/>
                <a:cs typeface="+mn-lt"/>
              </a:rPr>
              <a:t>Assembla</a:t>
            </a:r>
            <a:r>
              <a:rPr lang="en-US" sz="1800" dirty="0">
                <a:ea typeface="+mn-lt"/>
                <a:cs typeface="+mn-lt"/>
              </a:rPr>
              <a:t>. (2025). </a:t>
            </a:r>
            <a:r>
              <a:rPr lang="en-US" sz="1800" i="1" dirty="0">
                <a:ea typeface="+mn-lt"/>
                <a:cs typeface="+mn-lt"/>
              </a:rPr>
              <a:t>Source code security best practices: A complete guide.</a:t>
            </a:r>
            <a:br>
              <a:rPr lang="en-US" sz="1800" i="1" dirty="0">
                <a:ea typeface="+mn-lt"/>
                <a:cs typeface="+mn-lt"/>
              </a:rPr>
            </a:br>
            <a:r>
              <a:rPr lang="en-US" sz="1800" i="1" dirty="0">
                <a:ea typeface="+mn-lt"/>
                <a:cs typeface="+mn-lt"/>
              </a:rPr>
              <a:t> </a:t>
            </a:r>
            <a:r>
              <a:rPr lang="en-US" sz="1800" dirty="0">
                <a:ea typeface="+mn-lt"/>
                <a:cs typeface="+mn-lt"/>
                <a:hlinkClick r:id="rId2"/>
              </a:rPr>
              <a:t>https://get.assembla.com/blog/source-code-security/</a:t>
            </a:r>
            <a:endParaRPr lang="en-US" sz="1800" dirty="0"/>
          </a:p>
          <a:p>
            <a:pPr>
              <a:buNone/>
            </a:pPr>
            <a:endParaRPr lang="en-US" sz="1800" dirty="0">
              <a:ea typeface="+mn-lt"/>
              <a:cs typeface="+mn-lt"/>
            </a:endParaRPr>
          </a:p>
          <a:p>
            <a:pPr>
              <a:buNone/>
            </a:pPr>
            <a:r>
              <a:rPr lang="en-US" sz="1800">
                <a:ea typeface="+mn-lt"/>
                <a:cs typeface="+mn-lt"/>
              </a:rPr>
              <a:t>CyberArk. (n.d.). </a:t>
            </a:r>
            <a:r>
              <a:rPr lang="en-US" sz="1800" i="1">
                <a:ea typeface="+mn-lt"/>
                <a:cs typeface="+mn-lt"/>
              </a:rPr>
              <a:t>Code repositories: The growing threat landscape.</a:t>
            </a:r>
            <a:br>
              <a:rPr lang="en-US" sz="1800" i="1" dirty="0">
                <a:ea typeface="+mn-lt"/>
                <a:cs typeface="+mn-lt"/>
              </a:rPr>
            </a:br>
            <a:r>
              <a:rPr lang="en-US" sz="1800" i="1" dirty="0">
                <a:ea typeface="+mn-lt"/>
                <a:cs typeface="+mn-lt"/>
              </a:rPr>
              <a:t> </a:t>
            </a:r>
            <a:r>
              <a:rPr lang="en-US" sz="1800" dirty="0">
                <a:ea typeface="+mn-lt"/>
                <a:cs typeface="+mn-lt"/>
                <a:hlinkClick r:id="rId3"/>
              </a:rPr>
              <a:t>https://www.cyberark.com/resources/blog/code-repositories-the-growing-threat-landscape</a:t>
            </a:r>
            <a:endParaRPr lang="en-US" sz="1800"/>
          </a:p>
          <a:p>
            <a:pPr>
              <a:buNone/>
            </a:pPr>
            <a:endParaRPr lang="en-US" sz="1800" dirty="0">
              <a:ea typeface="+mn-lt"/>
              <a:cs typeface="+mn-lt"/>
            </a:endParaRPr>
          </a:p>
          <a:p>
            <a:pPr>
              <a:buNone/>
            </a:pPr>
            <a:r>
              <a:rPr lang="en-US" sz="1800">
                <a:ea typeface="+mn-lt"/>
                <a:cs typeface="+mn-lt"/>
              </a:rPr>
              <a:t>Endpoint Protector. (n.d.). </a:t>
            </a:r>
            <a:r>
              <a:rPr lang="en-US" sz="1800" i="1">
                <a:ea typeface="+mn-lt"/>
                <a:cs typeface="+mn-lt"/>
              </a:rPr>
              <a:t>Your ultimate guide to source code protection.</a:t>
            </a:r>
            <a:br>
              <a:rPr lang="en-US" sz="1800" i="1" dirty="0">
                <a:ea typeface="+mn-lt"/>
                <a:cs typeface="+mn-lt"/>
              </a:rPr>
            </a:br>
            <a:r>
              <a:rPr lang="en-US" sz="1800" i="1" dirty="0">
                <a:ea typeface="+mn-lt"/>
                <a:cs typeface="+mn-lt"/>
              </a:rPr>
              <a:t> </a:t>
            </a:r>
            <a:r>
              <a:rPr lang="en-US" sz="1800" dirty="0">
                <a:ea typeface="+mn-lt"/>
                <a:cs typeface="+mn-lt"/>
                <a:hlinkClick r:id="rId4"/>
              </a:rPr>
              <a:t>https://www.endpointprotector.com/blog/your-ultimate-guide-to-source-code-protection/</a:t>
            </a:r>
            <a:endParaRPr lang="en-US" sz="1800"/>
          </a:p>
          <a:p>
            <a:pPr>
              <a:buNone/>
            </a:pPr>
            <a:endParaRPr lang="en-US" sz="1800" dirty="0">
              <a:ea typeface="+mn-lt"/>
              <a:cs typeface="+mn-lt"/>
            </a:endParaRPr>
          </a:p>
          <a:p>
            <a:pPr>
              <a:buNone/>
            </a:pPr>
            <a:r>
              <a:rPr lang="en-US" sz="1800">
                <a:ea typeface="+mn-lt"/>
                <a:cs typeface="+mn-lt"/>
              </a:rPr>
              <a:t>Stack Overflow. (2022, January 24). </a:t>
            </a:r>
            <a:r>
              <a:rPr lang="en-US" sz="1800" i="1">
                <a:ea typeface="+mn-lt"/>
                <a:cs typeface="+mn-lt"/>
              </a:rPr>
              <a:t>Securing the data in your online code repository is a shared responsibility.</a:t>
            </a:r>
            <a:br>
              <a:rPr lang="en-US" sz="1800" i="1" dirty="0">
                <a:ea typeface="+mn-lt"/>
                <a:cs typeface="+mn-lt"/>
              </a:rPr>
            </a:br>
            <a:r>
              <a:rPr lang="en-US" sz="1800" i="1" dirty="0">
                <a:ea typeface="+mn-lt"/>
                <a:cs typeface="+mn-lt"/>
              </a:rPr>
              <a:t> </a:t>
            </a:r>
            <a:r>
              <a:rPr lang="en-US" sz="1800" dirty="0">
                <a:ea typeface="+mn-lt"/>
                <a:cs typeface="+mn-lt"/>
                <a:hlinkClick r:id="rId5"/>
              </a:rPr>
              <a:t>https://stackoverflow.blog/2022/01/24/securing-the-data-in-your-online-code-repository-is-a-shared-responsibility/</a:t>
            </a:r>
            <a:endParaRPr lang="en-US" sz="1800"/>
          </a:p>
          <a:p>
            <a:pPr marL="0" indent="0">
              <a:buNone/>
            </a:pP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5195714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Security Controls in Shared Source Code Repositories</vt:lpstr>
      <vt:lpstr>Source Code Security</vt:lpstr>
      <vt:lpstr>The Expanding Threat Landscape</vt:lpstr>
      <vt:lpstr>Risks of Source Code Exposure</vt:lpstr>
      <vt:lpstr>Access Control and Authentication</vt:lpstr>
      <vt:lpstr>Protecting Secrets and Sensitive Data</vt:lpstr>
      <vt:lpstr>Security Policies and Developer Practices</vt:lpstr>
      <vt:lpstr>Monitoring, Logging, and Auditing</vt:lpstr>
      <vt:lpstr>Conclusion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226</cp:revision>
  <dcterms:created xsi:type="dcterms:W3CDTF">2026-03-07T20:49:46Z</dcterms:created>
  <dcterms:modified xsi:type="dcterms:W3CDTF">2026-03-07T21:21:01Z</dcterms:modified>
</cp:coreProperties>
</file>